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24384000" cy="13716000"/>
  <p:notesSz cx="6858000" cy="9144000"/>
  <p:embeddedFontLst>
    <p:embeddedFont>
      <p:font typeface="HY견고딕" panose="02030600000101010101" pitchFamily="18" charset="-127"/>
      <p:regular r:id="rId12"/>
    </p:embeddedFont>
    <p:embeddedFont>
      <p:font typeface="S-Core Dream 3 Light" panose="020B0303030302020204" pitchFamily="34" charset="-127"/>
      <p:regular r:id="rId13"/>
    </p:embeddedFont>
    <p:embeddedFont>
      <p:font typeface="S-Core Dream 4 Regular" panose="020B0503030302020204" pitchFamily="34" charset="-127"/>
      <p:regular r:id="rId14"/>
    </p:embeddedFont>
    <p:embeddedFont>
      <p:font typeface="S-Core Dream 5 Medium" panose="020B0503030302020204" pitchFamily="34" charset="-127"/>
      <p:regular r:id="rId15"/>
    </p:embeddedFont>
    <p:embeddedFont>
      <p:font typeface="S-Core Dream 6 Bold" panose="020B0703030302020204" pitchFamily="34" charset="-127"/>
      <p:bold r:id="rId16"/>
    </p:embeddedFont>
    <p:embeddedFont>
      <p:font typeface="Geologica Roman Medium" panose="020B0600000101010101" charset="0"/>
      <p:bold r:id="rId17"/>
    </p:embeddedFont>
    <p:embeddedFont>
      <p:font typeface="Geologica Roman Regular" panose="020B0600000101010101" charset="0"/>
      <p:regular r:id="rId18"/>
    </p:embeddedFont>
    <p:embeddedFont>
      <p:font typeface="Geologica Roman SemiBold" panose="020B0600000101010101" charset="0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306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3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13779500" y="152400"/>
            <a:ext cx="11303000" cy="10947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8000"/>
          </a:blip>
          <a:stretch>
            <a:fillRect/>
          </a:stretch>
        </p:blipFill>
        <p:spPr>
          <a:xfrm>
            <a:off x="15557500" y="1270000"/>
            <a:ext cx="7975600" cy="7975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576300"/>
            <a:ext cx="24384000" cy="19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422400" y="8153400"/>
            <a:ext cx="533400" cy="101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384300" y="4419600"/>
            <a:ext cx="12979400" cy="2463800"/>
          </a:xfrm>
          <a:prstGeom prst="rect">
            <a:avLst/>
          </a:prstGeom>
        </p:spPr>
        <p:txBody>
          <a:bodyPr lIns="0" tIns="176107" rIns="0" bIns="176107" rtlCol="0" anchor="ctr"/>
          <a:lstStyle/>
          <a:p>
            <a:pPr lvl="0" algn="l">
              <a:lnSpc>
                <a:spcPct val="99600"/>
              </a:lnSpc>
            </a:pPr>
            <a:r>
              <a:rPr lang="en-US" sz="13866" b="0" i="0" u="none" strike="noStrike" spc="-1400" dirty="0">
                <a:solidFill>
                  <a:srgbClr val="0028A0"/>
                </a:solidFill>
                <a:latin typeface="S-Core Dream 5 Medium"/>
                <a:ea typeface="S-Core Dream 5 Medium"/>
                <a:cs typeface="S-Core Dream 5 Medium"/>
              </a:rPr>
              <a:t>Thrifting Assistance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0" y="1765300"/>
            <a:ext cx="10045700" cy="1308100"/>
          </a:xfrm>
          <a:prstGeom prst="rect">
            <a:avLst/>
          </a:prstGeom>
        </p:spPr>
        <p:txBody>
          <a:bodyPr lIns="0" tIns="93133" rIns="0" bIns="93133" rtlCol="0" anchor="ctr"/>
          <a:lstStyle/>
          <a:p>
            <a:pPr lvl="0" algn="l">
              <a:lnSpc>
                <a:spcPct val="99600"/>
              </a:lnSpc>
            </a:pPr>
            <a:r>
              <a:rPr lang="en-US" sz="7333" b="0" i="0" u="none" strike="noStrike" spc="-800" dirty="0">
                <a:solidFill>
                  <a:srgbClr val="00B4C7"/>
                </a:solidFill>
                <a:latin typeface="S-Core Dream 5 Medium"/>
                <a:ea typeface="S-Core Dream 5 Medium"/>
                <a:cs typeface="S-Core Dream 5 Medium"/>
              </a:rPr>
              <a:t>ㄴ</a:t>
            </a:r>
            <a:r>
              <a:rPr lang="ko-KR" altLang="en-US" sz="7333" b="0" i="0" u="none" strike="noStrike" spc="-800" dirty="0" err="1">
                <a:solidFill>
                  <a:srgbClr val="00B4C7"/>
                </a:solidFill>
                <a:latin typeface="S-Core Dream 5 Medium"/>
                <a:ea typeface="S-Core Dream 5 Medium"/>
                <a:cs typeface="S-Core Dream 5 Medium"/>
              </a:rPr>
              <a:t>중고검수프로그램</a:t>
            </a:r>
            <a:endParaRPr lang="ko-KR" altLang="en-US" sz="7333" b="0" i="0" u="none" strike="noStrike" spc="-800" dirty="0">
              <a:solidFill>
                <a:srgbClr val="00B4C7"/>
              </a:solidFill>
              <a:latin typeface="S-Core Dream 5 Medium"/>
              <a:ea typeface="S-Core Dream 5 Medium"/>
              <a:cs typeface="S-Core Dream 5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981200" y="8001000"/>
            <a:ext cx="9461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spc="-300" dirty="0" err="1">
                <a:solidFill>
                  <a:srgbClr val="3D4C63"/>
                </a:solidFill>
                <a:latin typeface="S-Core Dream 4 Regular"/>
                <a:ea typeface="S-Core Dream 4 Regular"/>
                <a:cs typeface="S-Core Dream 4 Regular"/>
              </a:rPr>
              <a:t>미디어</a:t>
            </a:r>
            <a:r>
              <a:rPr lang="en-US" sz="3333" b="0" i="0" u="none" strike="noStrike" spc="-300" dirty="0">
                <a:solidFill>
                  <a:srgbClr val="3D4C63"/>
                </a:solidFill>
                <a:latin typeface="S-Core Dream 4 Regular"/>
                <a:ea typeface="S-Core Dream 4 Regular"/>
                <a:cs typeface="S-Core Dream 4 Regular"/>
              </a:rPr>
              <a:t> </a:t>
            </a:r>
            <a:r>
              <a:rPr lang="en-US" sz="3333" b="0" i="0" u="none" strike="noStrike" spc="-300" dirty="0" err="1">
                <a:solidFill>
                  <a:srgbClr val="3D4C63"/>
                </a:solidFill>
                <a:latin typeface="S-Core Dream 4 Regular"/>
                <a:ea typeface="S-Core Dream 4 Regular"/>
                <a:cs typeface="S-Core Dream 4 Regular"/>
              </a:rPr>
              <a:t>프로젝트</a:t>
            </a:r>
            <a:endParaRPr lang="en-US" sz="3333" b="0" i="0" u="none" strike="noStrike" spc="-300" dirty="0">
              <a:solidFill>
                <a:srgbClr val="3D4C63"/>
              </a:solidFill>
              <a:latin typeface="S-Core Dream 4 Regular"/>
              <a:ea typeface="S-Core Dream 4 Regular"/>
              <a:cs typeface="S-Core Dream 4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549400" y="10668000"/>
            <a:ext cx="4559300" cy="469900"/>
          </a:xfrm>
          <a:prstGeom prst="rect">
            <a:avLst/>
          </a:prstGeom>
        </p:spPr>
        <p:txBody>
          <a:bodyPr lIns="0" tIns="68131" rIns="0" bIns="0" rtlCol="0" anchor="t"/>
          <a:lstStyle/>
          <a:p>
            <a:pPr lvl="0" algn="l">
              <a:lnSpc>
                <a:spcPct val="82170"/>
              </a:lnSpc>
            </a:pPr>
            <a:r>
              <a:rPr lang="en-US" sz="2616" b="0" i="0" u="none" strike="noStrike" dirty="0">
                <a:solidFill>
                  <a:srgbClr val="0028A0"/>
                </a:solidFill>
                <a:latin typeface="Geologica Roman Medium"/>
                <a:ea typeface="Geologica Roman Medium"/>
                <a:cs typeface="Geologica Roman Medium"/>
              </a:rPr>
              <a:t>name. </a:t>
            </a:r>
            <a:r>
              <a:rPr lang="en-US" sz="2616" b="0" i="0" u="none" strike="noStrike" dirty="0" err="1">
                <a:solidFill>
                  <a:srgbClr val="0028A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Geologica Roman Medium"/>
              </a:rPr>
              <a:t>전준혁</a:t>
            </a:r>
            <a:endParaRPr lang="en-US" sz="2616" b="0" i="0" u="none" strike="noStrike" dirty="0">
              <a:solidFill>
                <a:srgbClr val="0028A0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Geologica Roman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49400" y="11391900"/>
            <a:ext cx="4165600" cy="469900"/>
          </a:xfrm>
          <a:prstGeom prst="rect">
            <a:avLst/>
          </a:prstGeom>
        </p:spPr>
        <p:txBody>
          <a:bodyPr lIns="0" tIns="68131" rIns="0" bIns="0" rtlCol="0" anchor="t"/>
          <a:lstStyle/>
          <a:p>
            <a:pPr lvl="0" algn="l">
              <a:lnSpc>
                <a:spcPct val="82170"/>
              </a:lnSpc>
            </a:pPr>
            <a:r>
              <a:rPr lang="ko-KR" altLang="en-US" sz="2616" dirty="0">
                <a:solidFill>
                  <a:srgbClr val="0028A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Geologica Roman Medium"/>
              </a:rPr>
              <a:t>학번</a:t>
            </a:r>
            <a:r>
              <a:rPr lang="en-US" sz="2616" b="0" i="0" u="none" strike="noStrike" dirty="0">
                <a:solidFill>
                  <a:srgbClr val="0028A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Geologica Roman Medium"/>
              </a:rPr>
              <a:t>.  </a:t>
            </a:r>
            <a:r>
              <a:rPr lang="en-US" sz="2616" b="0" i="0" u="none" strike="noStrike" dirty="0">
                <a:solidFill>
                  <a:srgbClr val="374257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Geologica Roman ExtraLight"/>
              </a:rPr>
              <a:t>202127255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8100"/>
            <a:ext cx="24384000" cy="19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300" y="7150100"/>
            <a:ext cx="13246100" cy="1485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0400" y="9893300"/>
            <a:ext cx="20548600" cy="2387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4025900"/>
            <a:ext cx="6108700" cy="3873500"/>
          </a:xfrm>
          <a:prstGeom prst="rect">
            <a:avLst/>
          </a:prstGeom>
          <a:effectLst>
            <a:outerShdw blurRad="290499" dist="89384" dir="2700000">
              <a:srgbClr val="97A1BB">
                <a:alpha val="4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1300" y="4038600"/>
            <a:ext cx="6108700" cy="3860800"/>
          </a:xfrm>
          <a:prstGeom prst="rect">
            <a:avLst/>
          </a:prstGeom>
          <a:effectLst>
            <a:outerShdw blurRad="289229" dist="88993" dir="2700000">
              <a:srgbClr val="97A1BB">
                <a:alpha val="4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0700" y="4025900"/>
            <a:ext cx="6108700" cy="3873500"/>
          </a:xfrm>
          <a:prstGeom prst="rect">
            <a:avLst/>
          </a:prstGeom>
          <a:effectLst>
            <a:outerShdw blurRad="290499" dist="89384" dir="2700000">
              <a:srgbClr val="97A1BB">
                <a:alpha val="4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35300" y="5410200"/>
            <a:ext cx="48260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5410200"/>
            <a:ext cx="48260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22700" y="5410200"/>
            <a:ext cx="48260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8300" y="7785100"/>
            <a:ext cx="254000" cy="254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77700" y="7785100"/>
            <a:ext cx="254000" cy="25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681700" y="7810500"/>
            <a:ext cx="254000" cy="254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376674">
            <a:off x="11430000" y="8648700"/>
            <a:ext cx="1536700" cy="38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12014200" y="9283700"/>
            <a:ext cx="381000" cy="673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12014200" y="9004300"/>
            <a:ext cx="381000" cy="6731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930400" y="1397000"/>
            <a:ext cx="6946900" cy="876300"/>
          </a:xfrm>
          <a:prstGeom prst="rect">
            <a:avLst/>
          </a:prstGeom>
        </p:spPr>
        <p:txBody>
          <a:bodyPr lIns="0" tIns="128438" rIns="0" bIns="128438" rtlCol="0" anchor="ctr"/>
          <a:lstStyle/>
          <a:p>
            <a:pPr lvl="0" algn="l">
              <a:lnSpc>
                <a:spcPct val="82170"/>
              </a:lnSpc>
            </a:pPr>
            <a:r>
              <a:rPr lang="en-US" sz="4933" b="0" i="0" u="none" strike="noStrike" spc="-400">
                <a:solidFill>
                  <a:srgbClr val="1A50B6"/>
                </a:solidFill>
                <a:latin typeface="S-Core Dream 6 Bold"/>
                <a:ea typeface="S-Core Dream 6 Bold"/>
                <a:cs typeface="S-Core Dream 6 Bold"/>
              </a:rPr>
              <a:t>제안의 배경 및 목적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30400" y="2476500"/>
            <a:ext cx="11518900" cy="381000"/>
          </a:xfrm>
          <a:prstGeom prst="rect">
            <a:avLst/>
          </a:prstGeom>
        </p:spPr>
        <p:txBody>
          <a:bodyPr lIns="0" tIns="55540" rIns="0" bIns="55540" rtlCol="0" anchor="ctr"/>
          <a:lstStyle/>
          <a:p>
            <a:pPr lvl="0" algn="l">
              <a:lnSpc>
                <a:spcPct val="82170"/>
              </a:lnSpc>
            </a:pPr>
            <a:r>
              <a:rPr lang="en-US" sz="2133" b="0" i="0" u="none" strike="noStrike" spc="-200">
                <a:solidFill>
                  <a:srgbClr val="3D4C63">
                    <a:alpha val="70196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중고 시장의 거대화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2800" y="495300"/>
            <a:ext cx="2743200" cy="317500"/>
          </a:xfrm>
          <a:prstGeom prst="rect">
            <a:avLst/>
          </a:prstGeom>
        </p:spPr>
        <p:txBody>
          <a:bodyPr lIns="0" tIns="46863" rIns="0" bIns="46863" rtlCol="0" anchor="ctr"/>
          <a:lstStyle/>
          <a:p>
            <a:pPr lvl="0" algn="l">
              <a:lnSpc>
                <a:spcPct val="82170"/>
              </a:lnSpc>
            </a:pPr>
            <a:r>
              <a:rPr lang="en-US" sz="1800" b="0" i="0" u="none" strike="noStrike" spc="-200">
                <a:solidFill>
                  <a:srgbClr val="1A50B6">
                    <a:alpha val="80000"/>
                  </a:srgbClr>
                </a:solidFill>
                <a:latin typeface="S-Core Dream 5 Medium"/>
                <a:ea typeface="S-Core Dream 5 Medium"/>
                <a:cs typeface="S-Core Dream 5 Medium"/>
              </a:rPr>
              <a:t>01. 프로젝트 개요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323300" y="533400"/>
            <a:ext cx="2070100" cy="317500"/>
          </a:xfrm>
          <a:prstGeom prst="rect">
            <a:avLst/>
          </a:prstGeom>
        </p:spPr>
        <p:txBody>
          <a:bodyPr lIns="0" tIns="46863" rIns="0" bIns="0" rtlCol="0" anchor="t"/>
          <a:lstStyle/>
          <a:p>
            <a:pPr lvl="0" algn="l">
              <a:lnSpc>
                <a:spcPct val="82170"/>
              </a:lnSpc>
            </a:pPr>
            <a:r>
              <a:rPr lang="en-US" sz="1800" b="0" i="0" u="none" strike="noStrike">
                <a:solidFill>
                  <a:srgbClr val="97A1BB"/>
                </a:solidFill>
                <a:latin typeface="Geologica Roman SemiBold"/>
                <a:ea typeface="Geologica Roman SemiBold"/>
                <a:cs typeface="Geologica Roman SemiBold"/>
              </a:rPr>
              <a:t>COMPANY LOGO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101300" y="533400"/>
            <a:ext cx="635000" cy="317500"/>
          </a:xfrm>
          <a:prstGeom prst="rect">
            <a:avLst/>
          </a:prstGeom>
        </p:spPr>
        <p:txBody>
          <a:bodyPr lIns="0" tIns="46863" rIns="0" bIns="0" rtlCol="0" anchor="t"/>
          <a:lstStyle/>
          <a:p>
            <a:pPr lvl="0" algn="r">
              <a:lnSpc>
                <a:spcPct val="82170"/>
              </a:lnSpc>
            </a:pPr>
            <a:r>
              <a:rPr lang="en-US" sz="1800" b="0" i="0" u="none" strike="noStrike">
                <a:solidFill>
                  <a:srgbClr val="97A1BB"/>
                </a:solidFill>
                <a:latin typeface="Geologica Roman Regular"/>
                <a:ea typeface="Geologica Roman Regular"/>
                <a:cs typeface="Geologica Roman Regular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27400" y="4432300"/>
            <a:ext cx="4495800" cy="546100"/>
          </a:xfrm>
          <a:prstGeom prst="rect">
            <a:avLst/>
          </a:prstGeom>
        </p:spPr>
        <p:txBody>
          <a:bodyPr lIns="0" tIns="79842" rIns="0" bIns="79842" rtlCol="0" anchor="ctr"/>
          <a:lstStyle/>
          <a:p>
            <a:pPr lvl="0" algn="ctr">
              <a:lnSpc>
                <a:spcPct val="82170"/>
              </a:lnSpc>
            </a:pPr>
            <a:r>
              <a:rPr lang="ko-KR" altLang="en-US" sz="3066" b="0" i="0" u="none" strike="noStrike" spc="-300" dirty="0">
                <a:solidFill>
                  <a:srgbClr val="0050C1"/>
                </a:solidFill>
                <a:latin typeface="S-Core Dream 5 Medium"/>
                <a:ea typeface="S-Core Dream 5 Medium"/>
                <a:cs typeface="S-Core Dream 5 Medium"/>
              </a:rPr>
              <a:t>중고시장의 거대화</a:t>
            </a:r>
            <a:endParaRPr lang="en-US" sz="3066" b="0" i="0" u="none" strike="noStrike" spc="-300" dirty="0">
              <a:solidFill>
                <a:srgbClr val="0050C1"/>
              </a:solidFill>
              <a:latin typeface="S-Core Dream 5 Medium"/>
              <a:ea typeface="S-Core Dream 5 Medium"/>
              <a:cs typeface="S-Core Dream 5 Mediu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956800" y="4445000"/>
            <a:ext cx="4495800" cy="546100"/>
          </a:xfrm>
          <a:prstGeom prst="rect">
            <a:avLst/>
          </a:prstGeom>
        </p:spPr>
        <p:txBody>
          <a:bodyPr lIns="0" tIns="79842" rIns="0" bIns="79842" rtlCol="0" anchor="ctr"/>
          <a:lstStyle/>
          <a:p>
            <a:pPr lvl="0" algn="ctr">
              <a:lnSpc>
                <a:spcPct val="82170"/>
              </a:lnSpc>
            </a:pPr>
            <a:r>
              <a:rPr lang="ko-KR" altLang="en-US" sz="3066" b="0" i="0" u="none" strike="noStrike" spc="-300" dirty="0">
                <a:solidFill>
                  <a:srgbClr val="0050C1"/>
                </a:solidFill>
                <a:latin typeface="S-Core Dream 5 Medium"/>
                <a:ea typeface="S-Core Dream 5 Medium"/>
                <a:cs typeface="S-Core Dream 5 Medium"/>
              </a:rPr>
              <a:t>부족한 검수</a:t>
            </a:r>
            <a:endParaRPr lang="en-US" sz="3066" b="0" i="0" u="none" strike="noStrike" spc="-300" dirty="0">
              <a:solidFill>
                <a:srgbClr val="0050C1"/>
              </a:solidFill>
              <a:latin typeface="S-Core Dream 5 Medium"/>
              <a:ea typeface="S-Core Dream 5 Medium"/>
              <a:cs typeface="S-Core Dream 5 Mediu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6573500" y="4445000"/>
            <a:ext cx="4495800" cy="546100"/>
          </a:xfrm>
          <a:prstGeom prst="rect">
            <a:avLst/>
          </a:prstGeom>
        </p:spPr>
        <p:txBody>
          <a:bodyPr lIns="0" tIns="79842" rIns="0" bIns="79842" rtlCol="0" anchor="ctr"/>
          <a:lstStyle/>
          <a:p>
            <a:pPr lvl="0" algn="ctr">
              <a:lnSpc>
                <a:spcPct val="82170"/>
              </a:lnSpc>
            </a:pPr>
            <a:r>
              <a:rPr lang="ko-KR" altLang="en-US" sz="3066" b="0" i="0" u="none" strike="noStrike" spc="-300" dirty="0">
                <a:solidFill>
                  <a:srgbClr val="0050C1"/>
                </a:solidFill>
                <a:latin typeface="S-Core Dream 5 Medium"/>
                <a:ea typeface="S-Core Dream 5 Medium"/>
                <a:cs typeface="S-Core Dream 5 Medium"/>
              </a:rPr>
              <a:t>증가하는 사기 피해</a:t>
            </a:r>
            <a:endParaRPr lang="en-US" sz="3066" b="0" i="0" u="none" strike="noStrike" spc="-300" dirty="0">
              <a:solidFill>
                <a:srgbClr val="0050C1"/>
              </a:solidFill>
              <a:latin typeface="S-Core Dream 5 Medium"/>
              <a:ea typeface="S-Core Dream 5 Medium"/>
              <a:cs typeface="S-Core Dream 5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3035300" y="5816600"/>
            <a:ext cx="5092700" cy="1320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32800"/>
              </a:lnSpc>
            </a:pPr>
            <a:r>
              <a:rPr lang="ko-KR" altLang="en-US" sz="2266" spc="-200" dirty="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지속적으로 증가하는 중고 시장</a:t>
            </a:r>
            <a:endParaRPr lang="en-US" sz="2266" b="0" i="0" u="none" strike="noStrike" spc="-200" dirty="0">
              <a:solidFill>
                <a:srgbClr val="3D4C63">
                  <a:alpha val="85098"/>
                </a:srgbClr>
              </a:solidFill>
              <a:latin typeface="S-Core Dream 4 Regular"/>
              <a:ea typeface="S-Core Dream 4 Regular"/>
              <a:cs typeface="S-Core Dream 4 Regular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652000" y="5816600"/>
            <a:ext cx="5092700" cy="1320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32800"/>
              </a:lnSpc>
            </a:pPr>
            <a:r>
              <a:rPr lang="ko-KR" altLang="en-US" sz="2266" b="0" i="0" u="none" strike="noStrike" spc="-200" dirty="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중고 시장의 규모에 비해 검수는 개인에게 맞기는 무책임함</a:t>
            </a:r>
            <a:endParaRPr lang="en-US" sz="2266" b="0" i="0" u="none" strike="noStrike" spc="-200" dirty="0">
              <a:solidFill>
                <a:srgbClr val="3D4C63">
                  <a:alpha val="85098"/>
                </a:srgbClr>
              </a:solidFill>
              <a:latin typeface="S-Core Dream 4 Regular"/>
              <a:ea typeface="S-Core Dream 4 Regular"/>
              <a:cs typeface="S-Core Dream 4 Regula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6268700" y="5816600"/>
            <a:ext cx="5092700" cy="1320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32800"/>
              </a:lnSpc>
            </a:pPr>
            <a:r>
              <a:rPr lang="ko-KR" altLang="en-US" sz="2266" b="0" i="0" u="none" strike="noStrike" spc="-200" dirty="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검수 부족으로 인한 사기 증가와 </a:t>
            </a:r>
            <a:r>
              <a:rPr lang="ko-KR" altLang="en-US" sz="2266" b="0" i="0" u="none" strike="noStrike" spc="-200" dirty="0" err="1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플래폼</a:t>
            </a:r>
            <a:r>
              <a:rPr lang="ko-KR" altLang="en-US" sz="2266" b="0" i="0" u="none" strike="noStrike" spc="-200" dirty="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 신뢰도 하락</a:t>
            </a:r>
            <a:endParaRPr lang="en-US" sz="2266" b="0" i="0" u="none" strike="noStrike" spc="-200" dirty="0">
              <a:solidFill>
                <a:srgbClr val="3D4C63">
                  <a:alpha val="85098"/>
                </a:srgbClr>
              </a:solidFill>
              <a:latin typeface="S-Core Dream 4 Regular"/>
              <a:ea typeface="S-Core Dream 4 Regular"/>
              <a:cs typeface="S-Core Dream 4 Regula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886200" y="10337800"/>
            <a:ext cx="16497300" cy="1320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8609"/>
              </a:lnSpc>
            </a:pPr>
            <a:r>
              <a:rPr lang="en-US" sz="3400" b="0" i="0" u="none" strike="noStrike" spc="-300">
                <a:solidFill>
                  <a:srgbClr val="FFFFFF"/>
                </a:solidFill>
                <a:latin typeface="S-Core Dream 5 Medium"/>
                <a:ea typeface="S-Core Dream 5 Medium"/>
                <a:cs typeface="S-Core Dream 5 Medium"/>
              </a:rPr>
              <a:t>지속적으로 늘어나는 중고거래 시장에 비해 기술적으로 도움을 주는 플래폼의 부족으로 인한 사기 피해 감소를 위한 프로그램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7900" y="7581900"/>
            <a:ext cx="14757400" cy="12865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0" y="4051300"/>
            <a:ext cx="12471400" cy="2565400"/>
          </a:xfrm>
          <a:prstGeom prst="rect">
            <a:avLst/>
          </a:prstGeom>
          <a:effectLst>
            <a:outerShdw blurRad="102616" dist="197338" dir="2700000">
              <a:srgbClr val="97A1BB">
                <a:alpha val="27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0" y="6896100"/>
            <a:ext cx="12471400" cy="2565400"/>
          </a:xfrm>
          <a:prstGeom prst="rect">
            <a:avLst/>
          </a:prstGeom>
          <a:effectLst>
            <a:outerShdw blurRad="102616" dist="197338" dir="2700000">
              <a:srgbClr val="97A1BB">
                <a:alpha val="27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0" y="9740900"/>
            <a:ext cx="12471400" cy="2565400"/>
          </a:xfrm>
          <a:prstGeom prst="rect">
            <a:avLst/>
          </a:prstGeom>
          <a:effectLst>
            <a:outerShdw blurRad="102616" dist="197338" dir="2700000">
              <a:srgbClr val="97A1BB">
                <a:alpha val="27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0400" y="4051300"/>
            <a:ext cx="7467600" cy="3467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38100"/>
            <a:ext cx="24384000" cy="190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930400" y="1397000"/>
            <a:ext cx="6946900" cy="876300"/>
          </a:xfrm>
          <a:prstGeom prst="rect">
            <a:avLst/>
          </a:prstGeom>
        </p:spPr>
        <p:txBody>
          <a:bodyPr lIns="0" tIns="128438" rIns="0" bIns="128438" rtlCol="0" anchor="ctr"/>
          <a:lstStyle/>
          <a:p>
            <a:pPr lvl="0" algn="l">
              <a:lnSpc>
                <a:spcPct val="82170"/>
              </a:lnSpc>
            </a:pPr>
            <a:r>
              <a:rPr lang="en-US" sz="4933" b="0" i="0" u="none" strike="noStrike" spc="-400">
                <a:solidFill>
                  <a:srgbClr val="1A50B6"/>
                </a:solidFill>
                <a:latin typeface="S-Core Dream 6 Bold"/>
                <a:ea typeface="S-Core Dream 6 Bold"/>
                <a:cs typeface="S-Core Dream 6 Bold"/>
              </a:rPr>
              <a:t>제안 수립의 필요성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30400" y="2489200"/>
            <a:ext cx="11518900" cy="381000"/>
          </a:xfrm>
          <a:prstGeom prst="rect">
            <a:avLst/>
          </a:prstGeom>
        </p:spPr>
        <p:txBody>
          <a:bodyPr lIns="0" tIns="55540" rIns="0" bIns="55540" rtlCol="0" anchor="ctr"/>
          <a:lstStyle/>
          <a:p>
            <a:pPr lvl="0" algn="l">
              <a:lnSpc>
                <a:spcPct val="82170"/>
              </a:lnSpc>
            </a:pPr>
            <a:r>
              <a:rPr lang="en-US" sz="2133" b="0" i="0" u="none" strike="noStrike" spc="-200">
                <a:solidFill>
                  <a:srgbClr val="3D4C63">
                    <a:alpha val="70196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이 프로그램이 필요한 이유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2800" y="495300"/>
            <a:ext cx="2743200" cy="317500"/>
          </a:xfrm>
          <a:prstGeom prst="rect">
            <a:avLst/>
          </a:prstGeom>
        </p:spPr>
        <p:txBody>
          <a:bodyPr lIns="0" tIns="46863" rIns="0" bIns="46863" rtlCol="0" anchor="ctr"/>
          <a:lstStyle/>
          <a:p>
            <a:pPr lvl="0" algn="l">
              <a:lnSpc>
                <a:spcPct val="82170"/>
              </a:lnSpc>
            </a:pPr>
            <a:r>
              <a:rPr lang="en-US" sz="1800" b="0" i="0" u="none" strike="noStrike" spc="-200">
                <a:solidFill>
                  <a:srgbClr val="1A50B6">
                    <a:alpha val="80000"/>
                  </a:srgbClr>
                </a:solidFill>
                <a:latin typeface="S-Core Dream 5 Medium"/>
                <a:ea typeface="S-Core Dream 5 Medium"/>
                <a:cs typeface="S-Core Dream 5 Medium"/>
              </a:rPr>
              <a:t>01. 프로젝트 개요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323300" y="533400"/>
            <a:ext cx="2070100" cy="317500"/>
          </a:xfrm>
          <a:prstGeom prst="rect">
            <a:avLst/>
          </a:prstGeom>
        </p:spPr>
        <p:txBody>
          <a:bodyPr lIns="0" tIns="46863" rIns="0" bIns="0" rtlCol="0" anchor="t"/>
          <a:lstStyle/>
          <a:p>
            <a:pPr lvl="0" algn="l">
              <a:lnSpc>
                <a:spcPct val="82170"/>
              </a:lnSpc>
            </a:pPr>
            <a:r>
              <a:rPr lang="en-US" sz="1800" b="0" i="0" u="none" strike="noStrike">
                <a:solidFill>
                  <a:srgbClr val="97A1BB"/>
                </a:solidFill>
                <a:latin typeface="Geologica Roman SemiBold"/>
                <a:ea typeface="Geologica Roman SemiBold"/>
                <a:cs typeface="Geologica Roman SemiBold"/>
              </a:rPr>
              <a:t>COMPANY LOGO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114000" y="533400"/>
            <a:ext cx="622300" cy="317500"/>
          </a:xfrm>
          <a:prstGeom prst="rect">
            <a:avLst/>
          </a:prstGeom>
        </p:spPr>
        <p:txBody>
          <a:bodyPr lIns="0" tIns="46863" rIns="0" bIns="0" rtlCol="0" anchor="t"/>
          <a:lstStyle/>
          <a:p>
            <a:pPr lvl="0" algn="r">
              <a:lnSpc>
                <a:spcPct val="82170"/>
              </a:lnSpc>
            </a:pPr>
            <a:r>
              <a:rPr lang="en-US" sz="1800" b="0" i="0" u="none" strike="noStrike">
                <a:solidFill>
                  <a:srgbClr val="97A1BB"/>
                </a:solidFill>
                <a:latin typeface="Geologica Roman Regular"/>
                <a:ea typeface="Geologica Roman Regular"/>
                <a:cs typeface="Geologica Roman Regular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44200" y="4432300"/>
            <a:ext cx="4470400" cy="520700"/>
          </a:xfrm>
          <a:prstGeom prst="rect">
            <a:avLst/>
          </a:prstGeom>
        </p:spPr>
        <p:txBody>
          <a:bodyPr lIns="0" tIns="76368" rIns="0" bIns="76368" rtlCol="0" anchor="ctr"/>
          <a:lstStyle/>
          <a:p>
            <a:pPr lvl="0" algn="l">
              <a:lnSpc>
                <a:spcPct val="82170"/>
              </a:lnSpc>
            </a:pPr>
            <a:r>
              <a:rPr lang="en-US" sz="2933" b="0" i="0" u="none" strike="noStrike" spc="-300">
                <a:solidFill>
                  <a:srgbClr val="0050C1"/>
                </a:solidFill>
                <a:latin typeface="S-Core Dream 5 Medium"/>
                <a:ea typeface="S-Core Dream 5 Medium"/>
                <a:cs typeface="S-Core Dream 5 Medium"/>
              </a:rPr>
              <a:t>증가하는 중고거래 피해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44200" y="7264400"/>
            <a:ext cx="4470400" cy="520700"/>
          </a:xfrm>
          <a:prstGeom prst="rect">
            <a:avLst/>
          </a:prstGeom>
        </p:spPr>
        <p:txBody>
          <a:bodyPr lIns="0" tIns="76368" rIns="0" bIns="76368" rtlCol="0" anchor="ctr"/>
          <a:lstStyle/>
          <a:p>
            <a:pPr lvl="0" algn="l">
              <a:lnSpc>
                <a:spcPct val="82170"/>
              </a:lnSpc>
            </a:pPr>
            <a:r>
              <a:rPr lang="en-US" sz="2933" b="0" i="0" u="none" strike="noStrike" spc="-300">
                <a:solidFill>
                  <a:srgbClr val="0050C1"/>
                </a:solidFill>
                <a:latin typeface="S-Core Dream 5 Medium"/>
                <a:ea typeface="S-Core Dream 5 Medium"/>
                <a:cs typeface="S-Core Dream 5 Medium"/>
              </a:rPr>
              <a:t>부족한 예방책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44200" y="10109200"/>
            <a:ext cx="4470400" cy="520700"/>
          </a:xfrm>
          <a:prstGeom prst="rect">
            <a:avLst/>
          </a:prstGeom>
        </p:spPr>
        <p:txBody>
          <a:bodyPr lIns="0" tIns="76368" rIns="0" bIns="76368" rtlCol="0" anchor="ctr"/>
          <a:lstStyle/>
          <a:p>
            <a:pPr lvl="0" algn="l">
              <a:lnSpc>
                <a:spcPct val="82170"/>
              </a:lnSpc>
            </a:pPr>
            <a:r>
              <a:rPr lang="en-US" sz="2933" b="0" i="0" u="none" strike="noStrike" spc="-300">
                <a:solidFill>
                  <a:srgbClr val="0050C1"/>
                </a:solidFill>
                <a:latin typeface="S-Core Dream 5 Medium"/>
                <a:ea typeface="S-Core Dream 5 Medium"/>
                <a:cs typeface="S-Core Dream 5 Medium"/>
              </a:rPr>
              <a:t>제안 수립의 필요성 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93400" y="5435600"/>
            <a:ext cx="109601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32800"/>
              </a:lnSpc>
            </a:pPr>
            <a:r>
              <a:rPr lang="en-US" sz="2266" b="0" i="0" u="none" strike="noStrike" spc="-20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증가하는 중고거래 사기 피해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93400" y="8280400"/>
            <a:ext cx="109601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32800"/>
              </a:lnSpc>
            </a:pPr>
            <a:r>
              <a:rPr lang="en-US" sz="2266" b="0" i="0" u="none" strike="noStrike" spc="-20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부족한 제도적 억제력 및 기술적 보조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93400" y="10896600"/>
            <a:ext cx="109601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32800"/>
              </a:lnSpc>
            </a:pPr>
            <a:r>
              <a:rPr lang="en-US" sz="2266" b="0" i="0" u="none" strike="noStrike" spc="-20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이곳에 제안의 필요성에 관한 내용을 입력해주세요. 주제와 관련된 세부 내용을 입력해주세요. 텍스트 박스를 더블 클릭해 내용을 자유롭게 입력해주세요. 이곳에 본문 내용을 입력해주세요.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0400" y="8483600"/>
            <a:ext cx="7467600" cy="3467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8100"/>
            <a:ext cx="24384000" cy="190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930400" y="1397000"/>
            <a:ext cx="9258300" cy="876300"/>
          </a:xfrm>
          <a:prstGeom prst="rect">
            <a:avLst/>
          </a:prstGeom>
        </p:spPr>
        <p:txBody>
          <a:bodyPr lIns="0" tIns="128438" rIns="0" bIns="128438" rtlCol="0" anchor="ctr"/>
          <a:lstStyle/>
          <a:p>
            <a:pPr lvl="0" algn="l">
              <a:lnSpc>
                <a:spcPct val="82170"/>
              </a:lnSpc>
            </a:pPr>
            <a:r>
              <a:rPr lang="en-US" sz="4933" b="0" i="0" u="none" strike="noStrike" spc="-400">
                <a:solidFill>
                  <a:srgbClr val="1A50B6"/>
                </a:solidFill>
                <a:latin typeface="S-Core Dream 6 Bold"/>
                <a:ea typeface="S-Core Dream 6 Bold"/>
                <a:cs typeface="S-Core Dream 6 Bold"/>
              </a:rPr>
              <a:t>시장 환경 분석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30400" y="2489200"/>
            <a:ext cx="11518900" cy="381000"/>
          </a:xfrm>
          <a:prstGeom prst="rect">
            <a:avLst/>
          </a:prstGeom>
        </p:spPr>
        <p:txBody>
          <a:bodyPr lIns="0" tIns="55540" rIns="0" bIns="55540" rtlCol="0" anchor="ctr"/>
          <a:lstStyle/>
          <a:p>
            <a:pPr lvl="0" algn="l">
              <a:lnSpc>
                <a:spcPct val="82170"/>
              </a:lnSpc>
            </a:pPr>
            <a:r>
              <a:rPr lang="en-US" sz="2133" b="0" i="0" u="none" strike="noStrike" spc="-200">
                <a:solidFill>
                  <a:srgbClr val="3D4C63">
                    <a:alpha val="70196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증가하고 있는 중고거래 시장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2800" y="495300"/>
            <a:ext cx="2743200" cy="317500"/>
          </a:xfrm>
          <a:prstGeom prst="rect">
            <a:avLst/>
          </a:prstGeom>
        </p:spPr>
        <p:txBody>
          <a:bodyPr lIns="0" tIns="46863" rIns="0" bIns="46863" rtlCol="0" anchor="ctr"/>
          <a:lstStyle/>
          <a:p>
            <a:pPr lvl="0" algn="l">
              <a:lnSpc>
                <a:spcPct val="82170"/>
              </a:lnSpc>
            </a:pPr>
            <a:r>
              <a:rPr lang="en-US" sz="1800" b="0" i="0" u="none" strike="noStrike" spc="-200">
                <a:solidFill>
                  <a:srgbClr val="1A50B6">
                    <a:alpha val="80000"/>
                  </a:srgbClr>
                </a:solidFill>
                <a:latin typeface="S-Core Dream 5 Medium"/>
                <a:ea typeface="S-Core Dream 5 Medium"/>
                <a:cs typeface="S-Core Dream 5 Medium"/>
              </a:rPr>
              <a:t>02. 시장 환경 분석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323300" y="533400"/>
            <a:ext cx="2070100" cy="317500"/>
          </a:xfrm>
          <a:prstGeom prst="rect">
            <a:avLst/>
          </a:prstGeom>
        </p:spPr>
        <p:txBody>
          <a:bodyPr lIns="0" tIns="46863" rIns="0" bIns="0" rtlCol="0" anchor="t"/>
          <a:lstStyle/>
          <a:p>
            <a:pPr lvl="0" algn="l">
              <a:lnSpc>
                <a:spcPct val="82170"/>
              </a:lnSpc>
            </a:pPr>
            <a:r>
              <a:rPr lang="en-US" sz="1800" b="0" i="0" u="none" strike="noStrike">
                <a:solidFill>
                  <a:srgbClr val="97A1BB"/>
                </a:solidFill>
                <a:latin typeface="Geologica Roman SemiBold"/>
                <a:ea typeface="Geologica Roman SemiBold"/>
                <a:cs typeface="Geologica Roman SemiBold"/>
              </a:rPr>
              <a:t>COMPANY LOGO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114000" y="533400"/>
            <a:ext cx="622300" cy="317500"/>
          </a:xfrm>
          <a:prstGeom prst="rect">
            <a:avLst/>
          </a:prstGeom>
        </p:spPr>
        <p:txBody>
          <a:bodyPr lIns="0" tIns="46863" rIns="0" bIns="0" rtlCol="0" anchor="t"/>
          <a:lstStyle/>
          <a:p>
            <a:pPr lvl="0" algn="r">
              <a:lnSpc>
                <a:spcPct val="82170"/>
              </a:lnSpc>
            </a:pPr>
            <a:r>
              <a:rPr lang="en-US" sz="1800" b="0" i="0" u="none" strike="noStrike">
                <a:solidFill>
                  <a:srgbClr val="97A1BB"/>
                </a:solidFill>
                <a:latin typeface="Geologica Roman Regular"/>
                <a:ea typeface="Geologica Roman Regular"/>
                <a:cs typeface="Geologica Roman Regular"/>
              </a:rPr>
              <a:t>07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00" y="4546600"/>
            <a:ext cx="10871200" cy="5613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0" y="4394200"/>
            <a:ext cx="9486900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8100"/>
            <a:ext cx="24384000" cy="190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930400" y="1397000"/>
            <a:ext cx="9258300" cy="876300"/>
          </a:xfrm>
          <a:prstGeom prst="rect">
            <a:avLst/>
          </a:prstGeom>
        </p:spPr>
        <p:txBody>
          <a:bodyPr lIns="0" tIns="128438" rIns="0" bIns="128438" rtlCol="0" anchor="ctr"/>
          <a:lstStyle/>
          <a:p>
            <a:pPr lvl="0" algn="l">
              <a:lnSpc>
                <a:spcPct val="82170"/>
              </a:lnSpc>
            </a:pPr>
            <a:r>
              <a:rPr lang="en-US" sz="4933" b="0" i="0" u="none" strike="noStrike" spc="-400">
                <a:solidFill>
                  <a:srgbClr val="1A50B6"/>
                </a:solidFill>
                <a:latin typeface="S-Core Dream 6 Bold"/>
                <a:ea typeface="S-Core Dream 6 Bold"/>
                <a:cs typeface="S-Core Dream 6 Bold"/>
              </a:rPr>
              <a:t>시장 환경 분석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30400" y="2489200"/>
            <a:ext cx="11518900" cy="381000"/>
          </a:xfrm>
          <a:prstGeom prst="rect">
            <a:avLst/>
          </a:prstGeom>
        </p:spPr>
        <p:txBody>
          <a:bodyPr lIns="0" tIns="55540" rIns="0" bIns="55540" rtlCol="0" anchor="ctr"/>
          <a:lstStyle/>
          <a:p>
            <a:pPr lvl="0" algn="l">
              <a:lnSpc>
                <a:spcPct val="82170"/>
              </a:lnSpc>
            </a:pPr>
            <a:r>
              <a:rPr lang="en-US" sz="2133" b="0" i="0" u="none" strike="noStrike" spc="-200">
                <a:solidFill>
                  <a:srgbClr val="3D4C63">
                    <a:alpha val="70196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그와 비례해 증가하는 중고거례 사기 피해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2800" y="495300"/>
            <a:ext cx="2743200" cy="317500"/>
          </a:xfrm>
          <a:prstGeom prst="rect">
            <a:avLst/>
          </a:prstGeom>
        </p:spPr>
        <p:txBody>
          <a:bodyPr lIns="0" tIns="46863" rIns="0" bIns="46863" rtlCol="0" anchor="ctr"/>
          <a:lstStyle/>
          <a:p>
            <a:pPr lvl="0" algn="l">
              <a:lnSpc>
                <a:spcPct val="82170"/>
              </a:lnSpc>
            </a:pPr>
            <a:r>
              <a:rPr lang="en-US" sz="1800" b="0" i="0" u="none" strike="noStrike" spc="-200">
                <a:solidFill>
                  <a:srgbClr val="1A50B6">
                    <a:alpha val="80000"/>
                  </a:srgbClr>
                </a:solidFill>
                <a:latin typeface="S-Core Dream 5 Medium"/>
                <a:ea typeface="S-Core Dream 5 Medium"/>
                <a:cs typeface="S-Core Dream 5 Medium"/>
              </a:rPr>
              <a:t>02. 시장 환경 분석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323300" y="533400"/>
            <a:ext cx="2070100" cy="317500"/>
          </a:xfrm>
          <a:prstGeom prst="rect">
            <a:avLst/>
          </a:prstGeom>
        </p:spPr>
        <p:txBody>
          <a:bodyPr lIns="0" tIns="46863" rIns="0" bIns="0" rtlCol="0" anchor="t"/>
          <a:lstStyle/>
          <a:p>
            <a:pPr lvl="0" algn="l">
              <a:lnSpc>
                <a:spcPct val="82170"/>
              </a:lnSpc>
            </a:pPr>
            <a:r>
              <a:rPr lang="en-US" sz="1800" b="0" i="0" u="none" strike="noStrike">
                <a:solidFill>
                  <a:srgbClr val="97A1BB"/>
                </a:solidFill>
                <a:latin typeface="Geologica Roman SemiBold"/>
                <a:ea typeface="Geologica Roman SemiBold"/>
                <a:cs typeface="Geologica Roman SemiBold"/>
              </a:rPr>
              <a:t>COMPANY LOGO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114000" y="533400"/>
            <a:ext cx="622300" cy="317500"/>
          </a:xfrm>
          <a:prstGeom prst="rect">
            <a:avLst/>
          </a:prstGeom>
        </p:spPr>
        <p:txBody>
          <a:bodyPr lIns="0" tIns="46863" rIns="0" bIns="0" rtlCol="0" anchor="t"/>
          <a:lstStyle/>
          <a:p>
            <a:pPr lvl="0" algn="r">
              <a:lnSpc>
                <a:spcPct val="82170"/>
              </a:lnSpc>
            </a:pPr>
            <a:r>
              <a:rPr lang="en-US" sz="1800" b="0" i="0" u="none" strike="noStrike">
                <a:solidFill>
                  <a:srgbClr val="97A1BB"/>
                </a:solidFill>
                <a:latin typeface="Geologica Roman Regular"/>
                <a:ea typeface="Geologica Roman Regular"/>
                <a:cs typeface="Geologica Roman Regular"/>
              </a:rPr>
              <a:t>07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4089400"/>
            <a:ext cx="8039100" cy="7010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8300" y="4762500"/>
            <a:ext cx="10528300" cy="5676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8100"/>
            <a:ext cx="24384000" cy="190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930400" y="1397000"/>
            <a:ext cx="5232400" cy="876300"/>
          </a:xfrm>
          <a:prstGeom prst="rect">
            <a:avLst/>
          </a:prstGeom>
        </p:spPr>
        <p:txBody>
          <a:bodyPr lIns="0" tIns="128438" rIns="0" bIns="128438" rtlCol="0" anchor="ctr"/>
          <a:lstStyle/>
          <a:p>
            <a:pPr lvl="0" algn="l">
              <a:lnSpc>
                <a:spcPct val="82170"/>
              </a:lnSpc>
            </a:pPr>
            <a:r>
              <a:rPr lang="en-US" sz="4933" b="0" i="0" u="none" strike="noStrike" spc="-400">
                <a:solidFill>
                  <a:srgbClr val="1A50B6"/>
                </a:solidFill>
                <a:latin typeface="S-Core Dream 6 Bold"/>
                <a:ea typeface="S-Core Dream 6 Bold"/>
                <a:cs typeface="S-Core Dream 6 Bold"/>
              </a:rPr>
              <a:t>중고 거래 사기 사례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30400" y="2552700"/>
            <a:ext cx="130048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930"/>
              </a:lnSpc>
            </a:pPr>
            <a:r>
              <a:rPr lang="en-US" sz="2133" b="0" i="0" u="none" strike="noStrike" spc="-200">
                <a:solidFill>
                  <a:srgbClr val="3D4C63">
                    <a:alpha val="70196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중고 거래시 외관 불량 사기 사례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2800" y="495300"/>
            <a:ext cx="2743200" cy="317500"/>
          </a:xfrm>
          <a:prstGeom prst="rect">
            <a:avLst/>
          </a:prstGeom>
        </p:spPr>
        <p:txBody>
          <a:bodyPr lIns="0" tIns="46863" rIns="0" bIns="46863" rtlCol="0" anchor="ctr"/>
          <a:lstStyle/>
          <a:p>
            <a:pPr lvl="0" algn="l">
              <a:lnSpc>
                <a:spcPct val="82170"/>
              </a:lnSpc>
            </a:pPr>
            <a:r>
              <a:rPr lang="en-US" sz="1800" b="0" i="0" u="none" strike="noStrike" spc="-200">
                <a:solidFill>
                  <a:srgbClr val="1A50B6">
                    <a:alpha val="80000"/>
                  </a:srgbClr>
                </a:solidFill>
                <a:latin typeface="S-Core Dream 5 Medium"/>
                <a:ea typeface="S-Core Dream 5 Medium"/>
                <a:cs typeface="S-Core Dream 5 Medium"/>
              </a:rPr>
              <a:t>02. 시장 환경 분석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323300" y="533400"/>
            <a:ext cx="2070100" cy="317500"/>
          </a:xfrm>
          <a:prstGeom prst="rect">
            <a:avLst/>
          </a:prstGeom>
        </p:spPr>
        <p:txBody>
          <a:bodyPr lIns="0" tIns="46863" rIns="0" bIns="0" rtlCol="0" anchor="t"/>
          <a:lstStyle/>
          <a:p>
            <a:pPr lvl="0" algn="l">
              <a:lnSpc>
                <a:spcPct val="82170"/>
              </a:lnSpc>
            </a:pPr>
            <a:r>
              <a:rPr lang="en-US" sz="1800" b="0" i="0" u="none" strike="noStrike">
                <a:solidFill>
                  <a:srgbClr val="97A1BB"/>
                </a:solidFill>
                <a:latin typeface="Geologica Roman SemiBold"/>
                <a:ea typeface="Geologica Roman SemiBold"/>
                <a:cs typeface="Geologica Roman SemiBold"/>
              </a:rPr>
              <a:t>COMPANY LOGO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114000" y="533400"/>
            <a:ext cx="622300" cy="317500"/>
          </a:xfrm>
          <a:prstGeom prst="rect">
            <a:avLst/>
          </a:prstGeom>
        </p:spPr>
        <p:txBody>
          <a:bodyPr lIns="0" tIns="46863" rIns="0" bIns="0" rtlCol="0" anchor="t"/>
          <a:lstStyle/>
          <a:p>
            <a:pPr lvl="0" algn="r">
              <a:lnSpc>
                <a:spcPct val="82170"/>
              </a:lnSpc>
            </a:pPr>
            <a:r>
              <a:rPr lang="en-US" sz="1800" b="0" i="0" u="none" strike="noStrike">
                <a:solidFill>
                  <a:srgbClr val="97A1BB"/>
                </a:solidFill>
                <a:latin typeface="Geologica Roman Regular"/>
                <a:ea typeface="Geologica Roman Regular"/>
                <a:cs typeface="Geologica Roman Regular"/>
              </a:rPr>
              <a:t>08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900" y="5270500"/>
            <a:ext cx="11163300" cy="4394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6200" y="3937000"/>
            <a:ext cx="10121900" cy="7061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0" y="7899400"/>
            <a:ext cx="4152900" cy="2387600"/>
          </a:xfrm>
          <a:prstGeom prst="rect">
            <a:avLst/>
          </a:prstGeom>
          <a:effectLst>
            <a:outerShdw blurRad="47632" dist="109921" dir="5400000">
              <a:srgbClr val="000000">
                <a:alpha val="12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0" y="5956300"/>
            <a:ext cx="4152900" cy="2387600"/>
          </a:xfrm>
          <a:prstGeom prst="rect">
            <a:avLst/>
          </a:prstGeom>
          <a:effectLst>
            <a:outerShdw blurRad="47632" dist="109921" dir="5400000">
              <a:srgbClr val="000000">
                <a:alpha val="12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7137400"/>
            <a:ext cx="15113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9080500"/>
            <a:ext cx="15113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10000"/>
          </a:blip>
          <a:stretch>
            <a:fillRect/>
          </a:stretch>
        </p:blipFill>
        <p:spPr>
          <a:xfrm>
            <a:off x="1587500" y="4787900"/>
            <a:ext cx="6819900" cy="681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34000"/>
          </a:blip>
          <a:stretch>
            <a:fillRect/>
          </a:stretch>
        </p:blipFill>
        <p:spPr>
          <a:xfrm>
            <a:off x="2108200" y="5308600"/>
            <a:ext cx="5765800" cy="5765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4300" y="5829300"/>
            <a:ext cx="4686300" cy="4686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9100" y="6819900"/>
            <a:ext cx="1524000" cy="1206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-38100"/>
            <a:ext cx="24384000" cy="190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12800" y="495300"/>
            <a:ext cx="2743200" cy="317500"/>
          </a:xfrm>
          <a:prstGeom prst="rect">
            <a:avLst/>
          </a:prstGeom>
        </p:spPr>
        <p:txBody>
          <a:bodyPr lIns="0" tIns="46863" rIns="0" bIns="46863" rtlCol="0" anchor="ctr"/>
          <a:lstStyle/>
          <a:p>
            <a:pPr lvl="0" algn="l">
              <a:lnSpc>
                <a:spcPct val="82170"/>
              </a:lnSpc>
            </a:pPr>
            <a:r>
              <a:rPr lang="en-US" sz="1800" b="0" i="0" u="none" strike="noStrike" spc="-200">
                <a:solidFill>
                  <a:srgbClr val="1A50B6">
                    <a:alpha val="80000"/>
                  </a:srgbClr>
                </a:solidFill>
                <a:latin typeface="S-Core Dream 5 Medium"/>
                <a:ea typeface="S-Core Dream 5 Medium"/>
                <a:cs typeface="S-Core Dream 5 Medium"/>
              </a:rPr>
              <a:t>02. 시장 환경 분석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323300" y="533400"/>
            <a:ext cx="2070100" cy="317500"/>
          </a:xfrm>
          <a:prstGeom prst="rect">
            <a:avLst/>
          </a:prstGeom>
        </p:spPr>
        <p:txBody>
          <a:bodyPr lIns="0" tIns="46863" rIns="0" bIns="0" rtlCol="0" anchor="t"/>
          <a:lstStyle/>
          <a:p>
            <a:pPr lvl="0" algn="l">
              <a:lnSpc>
                <a:spcPct val="82170"/>
              </a:lnSpc>
            </a:pPr>
            <a:r>
              <a:rPr lang="en-US" sz="1800" b="0" i="0" u="none" strike="noStrike">
                <a:solidFill>
                  <a:srgbClr val="97A1BB"/>
                </a:solidFill>
                <a:latin typeface="Geologica Roman SemiBold"/>
                <a:ea typeface="Geologica Roman SemiBold"/>
                <a:cs typeface="Geologica Roman SemiBold"/>
              </a:rPr>
              <a:t>COMPANY LOGO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114000" y="533400"/>
            <a:ext cx="622300" cy="317500"/>
          </a:xfrm>
          <a:prstGeom prst="rect">
            <a:avLst/>
          </a:prstGeom>
        </p:spPr>
        <p:txBody>
          <a:bodyPr lIns="0" tIns="46863" rIns="0" bIns="0" rtlCol="0" anchor="t"/>
          <a:lstStyle/>
          <a:p>
            <a:pPr lvl="0" algn="r">
              <a:lnSpc>
                <a:spcPct val="82170"/>
              </a:lnSpc>
            </a:pPr>
            <a:r>
              <a:rPr lang="en-US" sz="1800" b="0" i="0" u="none" strike="noStrike">
                <a:solidFill>
                  <a:srgbClr val="97A1BB"/>
                </a:solidFill>
                <a:latin typeface="Geologica Roman Regular"/>
                <a:ea typeface="Geologica Roman Regular"/>
                <a:cs typeface="Geologica Roman Regular"/>
              </a:rPr>
              <a:t>09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30400" y="1397000"/>
            <a:ext cx="9258300" cy="876300"/>
          </a:xfrm>
          <a:prstGeom prst="rect">
            <a:avLst/>
          </a:prstGeom>
        </p:spPr>
        <p:txBody>
          <a:bodyPr lIns="0" tIns="128438" rIns="0" bIns="128438" rtlCol="0" anchor="ctr"/>
          <a:lstStyle/>
          <a:p>
            <a:pPr lvl="0" algn="l">
              <a:lnSpc>
                <a:spcPct val="82170"/>
              </a:lnSpc>
            </a:pPr>
            <a:r>
              <a:rPr lang="en-US" sz="4933" b="0" i="0" u="none" strike="noStrike" spc="-400">
                <a:solidFill>
                  <a:srgbClr val="1A50B6"/>
                </a:solidFill>
                <a:latin typeface="S-Core Dream 6 Bold"/>
                <a:ea typeface="S-Core Dream 6 Bold"/>
                <a:cs typeface="S-Core Dream 6 Bold"/>
              </a:rPr>
              <a:t>타깃 및 니즈 분석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56900" y="6845300"/>
            <a:ext cx="1993900" cy="444500"/>
          </a:xfrm>
          <a:prstGeom prst="rect">
            <a:avLst/>
          </a:prstGeom>
        </p:spPr>
        <p:txBody>
          <a:bodyPr lIns="0" tIns="65954" rIns="0" bIns="65954" rtlCol="0" anchor="ctr"/>
          <a:lstStyle/>
          <a:p>
            <a:pPr lvl="0" algn="ctr">
              <a:lnSpc>
                <a:spcPct val="8217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S-Core Dream 5 Medium"/>
                <a:ea typeface="S-Core Dream 5 Medium"/>
                <a:cs typeface="S-Core Dream 5 Medium"/>
              </a:rPr>
              <a:t>플래폼 신뢰도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56900" y="8788400"/>
            <a:ext cx="1993900" cy="444500"/>
          </a:xfrm>
          <a:prstGeom prst="rect">
            <a:avLst/>
          </a:prstGeom>
        </p:spPr>
        <p:txBody>
          <a:bodyPr lIns="0" tIns="65954" rIns="0" bIns="65954" rtlCol="0" anchor="ctr"/>
          <a:lstStyle/>
          <a:p>
            <a:pPr lvl="0" algn="ctr">
              <a:lnSpc>
                <a:spcPct val="8217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S-Core Dream 5 Medium"/>
                <a:ea typeface="S-Core Dream 5 Medium"/>
                <a:cs typeface="S-Core Dream 5 Medium"/>
              </a:rPr>
              <a:t>외관 불량 검사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68700" y="8229600"/>
            <a:ext cx="2806700" cy="444500"/>
          </a:xfrm>
          <a:prstGeom prst="rect">
            <a:avLst/>
          </a:prstGeom>
        </p:spPr>
        <p:txBody>
          <a:bodyPr lIns="0" tIns="65954" rIns="0" bIns="65954" rtlCol="0" anchor="ctr"/>
          <a:lstStyle/>
          <a:p>
            <a:pPr lvl="0" algn="ctr">
              <a:lnSpc>
                <a:spcPct val="82170"/>
              </a:lnSpc>
            </a:pPr>
            <a:r>
              <a:rPr lang="en-US" sz="2533" b="0" i="0" u="none" strike="noStrike" spc="-200">
                <a:solidFill>
                  <a:srgbClr val="FFFFFF"/>
                </a:solidFill>
                <a:latin typeface="S-Core Dream 5 Medium"/>
                <a:ea typeface="S-Core Dream 5 Medium"/>
                <a:cs typeface="S-Core Dream 5 Medium"/>
              </a:rPr>
              <a:t>중고 판매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94100" y="9131300"/>
            <a:ext cx="27813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866" b="0" i="0" u="none" strike="noStrike" spc="-200">
                <a:solidFill>
                  <a:srgbClr val="FFFFFF"/>
                </a:solidFill>
                <a:latin typeface="S-Core Dream 3 Light"/>
                <a:ea typeface="S-Core Dream 3 Light"/>
                <a:cs typeface="S-Core Dream 3 Light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160500" y="6680200"/>
            <a:ext cx="8216900" cy="800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990"/>
              </a:lnSpc>
            </a:pPr>
            <a:r>
              <a:rPr lang="en-US" sz="2133" b="0" i="0" u="none" strike="noStrike" spc="-20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사기 거래자들로 인하여 신뢰도를 잃어간 다수의 중고거래 플래폼들의 신뢰도 회복 기회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60500" y="8648700"/>
            <a:ext cx="8216900" cy="800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990"/>
              </a:lnSpc>
            </a:pPr>
            <a:r>
              <a:rPr lang="en-US" sz="2133" b="0" i="0" u="none" strike="noStrike" spc="-20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자신이 판매, 구입하려는 중고 제품의 외관 검사를 대리로 맡기고 점수로 받아서 신뢰도를 높힐 수 있음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0" y="5181600"/>
            <a:ext cx="9944100" cy="695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2458700" y="5181600"/>
            <a:ext cx="9944100" cy="695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0400" y="3810000"/>
            <a:ext cx="9969500" cy="1117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3300" y="3810000"/>
            <a:ext cx="9969500" cy="1117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800" y="5676900"/>
            <a:ext cx="8928100" cy="130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800" y="7226300"/>
            <a:ext cx="8928100" cy="130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0" y="8788400"/>
            <a:ext cx="8928100" cy="130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800" y="10337800"/>
            <a:ext cx="8928100" cy="130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66700" y="5676900"/>
            <a:ext cx="8928100" cy="130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66700" y="7226300"/>
            <a:ext cx="8928100" cy="1308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79400" y="8788400"/>
            <a:ext cx="8928100" cy="130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66700" y="10337800"/>
            <a:ext cx="8928100" cy="130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-38100"/>
            <a:ext cx="24384000" cy="1905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959100" y="6019800"/>
            <a:ext cx="520700" cy="495300"/>
          </a:xfrm>
          <a:prstGeom prst="rect">
            <a:avLst/>
          </a:prstGeom>
        </p:spPr>
        <p:txBody>
          <a:bodyPr lIns="0" tIns="72898" rIns="0" bIns="72898" rtlCol="0" anchor="ctr"/>
          <a:lstStyle/>
          <a:p>
            <a:pPr lvl="0" algn="l">
              <a:lnSpc>
                <a:spcPct val="82170"/>
              </a:lnSpc>
            </a:pPr>
            <a:r>
              <a:rPr lang="en-US" sz="2800" b="0" i="0" u="none" strike="noStrike" spc="-200">
                <a:solidFill>
                  <a:srgbClr val="0168E9"/>
                </a:solidFill>
                <a:latin typeface="S-Core Dream 6 Bold"/>
                <a:ea typeface="S-Core Dream 6 Bold"/>
                <a:cs typeface="S-Core Dream 6 Bold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59100" y="7569200"/>
            <a:ext cx="520700" cy="495300"/>
          </a:xfrm>
          <a:prstGeom prst="rect">
            <a:avLst/>
          </a:prstGeom>
        </p:spPr>
        <p:txBody>
          <a:bodyPr lIns="0" tIns="72898" rIns="0" bIns="72898" rtlCol="0" anchor="ctr"/>
          <a:lstStyle/>
          <a:p>
            <a:pPr lvl="0" algn="l">
              <a:lnSpc>
                <a:spcPct val="82170"/>
              </a:lnSpc>
            </a:pPr>
            <a:r>
              <a:rPr lang="en-US" sz="2800" b="0" i="0" u="none" strike="noStrike" spc="-200">
                <a:solidFill>
                  <a:srgbClr val="0168E9"/>
                </a:solidFill>
                <a:latin typeface="S-Core Dream 6 Bold"/>
                <a:ea typeface="S-Core Dream 6 Bold"/>
                <a:cs typeface="S-Core Dream 6 Bold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59100" y="9105900"/>
            <a:ext cx="520700" cy="495300"/>
          </a:xfrm>
          <a:prstGeom prst="rect">
            <a:avLst/>
          </a:prstGeom>
        </p:spPr>
        <p:txBody>
          <a:bodyPr lIns="0" tIns="72898" rIns="0" bIns="72898" rtlCol="0" anchor="ctr"/>
          <a:lstStyle/>
          <a:p>
            <a:pPr lvl="0" algn="l">
              <a:lnSpc>
                <a:spcPct val="82170"/>
              </a:lnSpc>
            </a:pPr>
            <a:r>
              <a:rPr lang="en-US" sz="2800" b="0" i="0" u="none" strike="noStrike" spc="-200">
                <a:solidFill>
                  <a:srgbClr val="0168E9"/>
                </a:solidFill>
                <a:latin typeface="S-Core Dream 6 Bold"/>
                <a:ea typeface="S-Core Dream 6 Bold"/>
                <a:cs typeface="S-Core Dream 6 Bold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959100" y="10655300"/>
            <a:ext cx="520700" cy="495300"/>
          </a:xfrm>
          <a:prstGeom prst="rect">
            <a:avLst/>
          </a:prstGeom>
        </p:spPr>
        <p:txBody>
          <a:bodyPr lIns="0" tIns="72898" rIns="0" bIns="72898" rtlCol="0" anchor="ctr"/>
          <a:lstStyle/>
          <a:p>
            <a:pPr lvl="0" algn="l">
              <a:lnSpc>
                <a:spcPct val="82170"/>
              </a:lnSpc>
            </a:pPr>
            <a:r>
              <a:rPr lang="en-US" sz="2800" b="0" i="0" u="none" strike="noStrike" spc="-200">
                <a:solidFill>
                  <a:srgbClr val="0168E9"/>
                </a:solidFill>
                <a:latin typeface="S-Core Dream 6 Bold"/>
                <a:ea typeface="S-Core Dream 6 Bold"/>
                <a:cs typeface="S-Core Dream 6 Bold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87400" y="6019800"/>
            <a:ext cx="520700" cy="495300"/>
          </a:xfrm>
          <a:prstGeom prst="rect">
            <a:avLst/>
          </a:prstGeom>
        </p:spPr>
        <p:txBody>
          <a:bodyPr lIns="0" tIns="72898" rIns="0" bIns="72898" rtlCol="0" anchor="ctr"/>
          <a:lstStyle/>
          <a:p>
            <a:pPr lvl="0" algn="l">
              <a:lnSpc>
                <a:spcPct val="82170"/>
              </a:lnSpc>
            </a:pPr>
            <a:r>
              <a:rPr lang="en-US" sz="2800" b="0" i="0" u="none" strike="noStrike" spc="-200">
                <a:solidFill>
                  <a:srgbClr val="3D4C63"/>
                </a:solidFill>
                <a:latin typeface="S-Core Dream 6 Bold"/>
                <a:ea typeface="S-Core Dream 6 Bold"/>
                <a:cs typeface="S-Core Dream 6 Bold"/>
              </a:rPr>
              <a:t>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487400" y="7556500"/>
            <a:ext cx="520700" cy="495300"/>
          </a:xfrm>
          <a:prstGeom prst="rect">
            <a:avLst/>
          </a:prstGeom>
        </p:spPr>
        <p:txBody>
          <a:bodyPr lIns="0" tIns="72898" rIns="0" bIns="72898" rtlCol="0" anchor="ctr"/>
          <a:lstStyle/>
          <a:p>
            <a:pPr lvl="0" algn="l">
              <a:lnSpc>
                <a:spcPct val="82170"/>
              </a:lnSpc>
            </a:pPr>
            <a:r>
              <a:rPr lang="en-US" sz="2800" b="0" i="0" u="none" strike="noStrike" spc="-200">
                <a:solidFill>
                  <a:srgbClr val="3D4C63"/>
                </a:solidFill>
                <a:latin typeface="S-Core Dream 6 Bold"/>
                <a:ea typeface="S-Core Dream 6 Bold"/>
                <a:cs typeface="S-Core Dream 6 Bold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487400" y="9105900"/>
            <a:ext cx="520700" cy="495300"/>
          </a:xfrm>
          <a:prstGeom prst="rect">
            <a:avLst/>
          </a:prstGeom>
        </p:spPr>
        <p:txBody>
          <a:bodyPr lIns="0" tIns="72898" rIns="0" bIns="72898" rtlCol="0" anchor="ctr"/>
          <a:lstStyle/>
          <a:p>
            <a:pPr lvl="0" algn="l">
              <a:lnSpc>
                <a:spcPct val="82170"/>
              </a:lnSpc>
            </a:pPr>
            <a:r>
              <a:rPr lang="en-US" sz="2800" b="0" i="0" u="none" strike="noStrike" spc="-200">
                <a:solidFill>
                  <a:srgbClr val="3D4C63"/>
                </a:solidFill>
                <a:latin typeface="S-Core Dream 6 Bold"/>
                <a:ea typeface="S-Core Dream 6 Bold"/>
                <a:cs typeface="S-Core Dream 6 Bold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87400" y="10642600"/>
            <a:ext cx="520700" cy="495300"/>
          </a:xfrm>
          <a:prstGeom prst="rect">
            <a:avLst/>
          </a:prstGeom>
        </p:spPr>
        <p:txBody>
          <a:bodyPr lIns="0" tIns="72898" rIns="0" bIns="72898" rtlCol="0" anchor="ctr"/>
          <a:lstStyle/>
          <a:p>
            <a:pPr lvl="0" algn="l">
              <a:lnSpc>
                <a:spcPct val="82170"/>
              </a:lnSpc>
            </a:pPr>
            <a:r>
              <a:rPr lang="en-US" sz="2800" b="0" i="0" u="none" strike="noStrike" spc="-200">
                <a:solidFill>
                  <a:srgbClr val="3D4C63"/>
                </a:solidFill>
                <a:latin typeface="S-Core Dream 6 Bold"/>
                <a:ea typeface="S-Core Dream 6 Bold"/>
                <a:cs typeface="S-Core Dream 6 Bold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2800" y="495300"/>
            <a:ext cx="2743200" cy="317500"/>
          </a:xfrm>
          <a:prstGeom prst="rect">
            <a:avLst/>
          </a:prstGeom>
        </p:spPr>
        <p:txBody>
          <a:bodyPr lIns="0" tIns="46863" rIns="0" bIns="46863" rtlCol="0" anchor="ctr"/>
          <a:lstStyle/>
          <a:p>
            <a:pPr lvl="0" algn="l">
              <a:lnSpc>
                <a:spcPct val="82170"/>
              </a:lnSpc>
            </a:pPr>
            <a:r>
              <a:rPr lang="en-US" sz="1800" b="0" i="0" u="none" strike="noStrike" spc="-200">
                <a:solidFill>
                  <a:srgbClr val="1A50B6">
                    <a:alpha val="80000"/>
                  </a:srgbClr>
                </a:solidFill>
                <a:latin typeface="S-Core Dream 5 Medium"/>
                <a:ea typeface="S-Core Dream 5 Medium"/>
                <a:cs typeface="S-Core Dream 5 Medium"/>
              </a:rPr>
              <a:t>02. 시장 환경 분석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323300" y="533400"/>
            <a:ext cx="2070100" cy="317500"/>
          </a:xfrm>
          <a:prstGeom prst="rect">
            <a:avLst/>
          </a:prstGeom>
        </p:spPr>
        <p:txBody>
          <a:bodyPr lIns="0" tIns="46863" rIns="0" bIns="0" rtlCol="0" anchor="t"/>
          <a:lstStyle/>
          <a:p>
            <a:pPr lvl="0" algn="l">
              <a:lnSpc>
                <a:spcPct val="82170"/>
              </a:lnSpc>
            </a:pPr>
            <a:r>
              <a:rPr lang="en-US" sz="1800" b="0" i="0" u="none" strike="noStrike">
                <a:solidFill>
                  <a:srgbClr val="97A1BB"/>
                </a:solidFill>
                <a:latin typeface="Geologica Roman SemiBold"/>
                <a:ea typeface="Geologica Roman SemiBold"/>
                <a:cs typeface="Geologica Roman SemiBold"/>
              </a:rPr>
              <a:t>COMPANY LOGO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3114000" y="533400"/>
            <a:ext cx="622300" cy="317500"/>
          </a:xfrm>
          <a:prstGeom prst="rect">
            <a:avLst/>
          </a:prstGeom>
        </p:spPr>
        <p:txBody>
          <a:bodyPr lIns="0" tIns="46863" rIns="0" bIns="0" rtlCol="0" anchor="t"/>
          <a:lstStyle/>
          <a:p>
            <a:pPr lvl="0" algn="r">
              <a:lnSpc>
                <a:spcPct val="82170"/>
              </a:lnSpc>
            </a:pPr>
            <a:r>
              <a:rPr lang="en-US" sz="1800" b="0" i="0" u="none" strike="noStrike">
                <a:solidFill>
                  <a:srgbClr val="97A1BB"/>
                </a:solidFill>
                <a:latin typeface="Geologica Roman Regular"/>
                <a:ea typeface="Geologica Roman Regular"/>
                <a:cs typeface="Geologica Roman Regular"/>
              </a:rPr>
              <a:t>11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30400" y="1549400"/>
            <a:ext cx="10452100" cy="876300"/>
          </a:xfrm>
          <a:prstGeom prst="rect">
            <a:avLst/>
          </a:prstGeom>
        </p:spPr>
        <p:txBody>
          <a:bodyPr lIns="0" tIns="128438" rIns="0" bIns="128438" rtlCol="0" anchor="ctr"/>
          <a:lstStyle/>
          <a:p>
            <a:pPr lvl="0" algn="l">
              <a:lnSpc>
                <a:spcPct val="82170"/>
              </a:lnSpc>
            </a:pPr>
            <a:r>
              <a:rPr lang="en-US" sz="4933" b="0" i="0" u="none" strike="noStrike" spc="-400">
                <a:solidFill>
                  <a:srgbClr val="1A50B6"/>
                </a:solidFill>
                <a:latin typeface="S-Core Dream 6 Bold"/>
                <a:ea typeface="S-Core Dream 6 Bold"/>
                <a:cs typeface="S-Core Dream 6 Bold"/>
              </a:rPr>
              <a:t>동작방식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24400" y="4064000"/>
            <a:ext cx="4368800" cy="622300"/>
          </a:xfrm>
          <a:prstGeom prst="rect">
            <a:avLst/>
          </a:prstGeom>
        </p:spPr>
        <p:txBody>
          <a:bodyPr lIns="0" tIns="90256" rIns="0" bIns="0" rtlCol="0" anchor="t"/>
          <a:lstStyle/>
          <a:p>
            <a:pPr lvl="0" algn="ctr">
              <a:lnSpc>
                <a:spcPct val="82170"/>
              </a:lnSpc>
            </a:pPr>
            <a:r>
              <a:rPr lang="en-US" sz="3466" b="0" i="0" u="none" strike="noStrike">
                <a:solidFill>
                  <a:srgbClr val="FFFFFF"/>
                </a:solidFill>
                <a:latin typeface="Geologica Roman SemiBold"/>
                <a:ea typeface="Geologica Roman SemiBold"/>
                <a:cs typeface="Geologica Roman SemiBold"/>
              </a:rPr>
              <a:t>내부 로직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433800" y="3987800"/>
            <a:ext cx="2032000" cy="584200"/>
          </a:xfrm>
          <a:prstGeom prst="rect">
            <a:avLst/>
          </a:prstGeom>
        </p:spPr>
        <p:txBody>
          <a:bodyPr lIns="0" tIns="85049" rIns="0" bIns="85049" rtlCol="0" anchor="ctr"/>
          <a:lstStyle/>
          <a:p>
            <a:pPr lvl="0" algn="ctr">
              <a:lnSpc>
                <a:spcPct val="82170"/>
              </a:lnSpc>
            </a:pPr>
            <a:r>
              <a:rPr lang="en-US" sz="3266" b="0" i="0" u="none" strike="noStrike" spc="-300">
                <a:solidFill>
                  <a:srgbClr val="FFFFFF"/>
                </a:solidFill>
                <a:latin typeface="S-Core Dream 5 Medium"/>
                <a:ea typeface="S-Core Dream 5 Medium"/>
                <a:cs typeface="S-Core Dream 5 Medium"/>
              </a:rPr>
              <a:t>필요한 것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784600" y="6096000"/>
            <a:ext cx="7175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990"/>
              </a:lnSpc>
            </a:pPr>
            <a:r>
              <a:rPr lang="en-US" sz="3200" b="0" i="0" u="none" strike="noStrike" spc="-30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사진 입력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35400" y="7531100"/>
            <a:ext cx="7175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990"/>
              </a:lnSpc>
            </a:pPr>
            <a:r>
              <a:rPr lang="en-US" sz="3199" b="0" i="0" u="none" strike="noStrike" spc="-30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opencv기반 프로그램에서 이미지 프로세싱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784600" y="8877300"/>
            <a:ext cx="7175500" cy="1193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990"/>
              </a:lnSpc>
            </a:pPr>
            <a:r>
              <a:rPr lang="en-US" sz="3200" b="0" i="0" u="none" strike="noStrike" spc="-30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이미지에서 외부에 과한 스크래치나 흠집 등 표시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835400" y="10388600"/>
            <a:ext cx="7175500" cy="1193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990"/>
              </a:lnSpc>
            </a:pPr>
            <a:r>
              <a:rPr lang="en-US" sz="3200" b="0" i="0" u="none" strike="noStrike" spc="-30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프로세싱 된 이미지 사용 디바이스의 화면에 출력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274800" y="6019800"/>
            <a:ext cx="7175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990"/>
              </a:lnSpc>
            </a:pPr>
            <a:r>
              <a:rPr lang="en-US" sz="3199" b="0" i="0" u="none" strike="noStrike" spc="-30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다각도에서 찍은 중고품 사진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274800" y="7569200"/>
            <a:ext cx="7175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990"/>
              </a:lnSpc>
            </a:pPr>
            <a:r>
              <a:rPr lang="en-US" sz="3199" b="0" i="0" u="none" strike="noStrike" spc="-30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고해상도까지 프로세싱 가능한 프로그램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274800" y="9131300"/>
            <a:ext cx="7175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990"/>
              </a:lnSpc>
            </a:pPr>
            <a:r>
              <a:rPr lang="en-US" sz="3199" b="0" i="0" u="none" strike="noStrike" spc="-30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세련되고 사용하기 편한 UI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274800" y="10680700"/>
            <a:ext cx="7175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990"/>
              </a:lnSpc>
            </a:pPr>
            <a:r>
              <a:rPr lang="en-US" sz="3199" b="0" i="0" u="none" strike="noStrike" spc="-30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시각적으로 눈에 띄게 불량을 보여주어야 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8100"/>
            <a:ext cx="24384000" cy="190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12800" y="495300"/>
            <a:ext cx="2743200" cy="317500"/>
          </a:xfrm>
          <a:prstGeom prst="rect">
            <a:avLst/>
          </a:prstGeom>
        </p:spPr>
        <p:txBody>
          <a:bodyPr lIns="0" tIns="46863" rIns="0" bIns="46863" rtlCol="0" anchor="ctr"/>
          <a:lstStyle/>
          <a:p>
            <a:pPr lvl="0" algn="l">
              <a:lnSpc>
                <a:spcPct val="82170"/>
              </a:lnSpc>
            </a:pPr>
            <a:r>
              <a:rPr lang="en-US" sz="1800" b="0" i="0" u="none" strike="noStrike" spc="-200">
                <a:solidFill>
                  <a:srgbClr val="1A50B6">
                    <a:alpha val="80000"/>
                  </a:srgbClr>
                </a:solidFill>
                <a:latin typeface="S-Core Dream 5 Medium"/>
                <a:ea typeface="S-Core Dream 5 Medium"/>
                <a:cs typeface="S-Core Dream 5 Medium"/>
              </a:rPr>
              <a:t>02. 시장 환경 분석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323300" y="533400"/>
            <a:ext cx="2070100" cy="317500"/>
          </a:xfrm>
          <a:prstGeom prst="rect">
            <a:avLst/>
          </a:prstGeom>
        </p:spPr>
        <p:txBody>
          <a:bodyPr lIns="0" tIns="46863" rIns="0" bIns="0" rtlCol="0" anchor="t"/>
          <a:lstStyle/>
          <a:p>
            <a:pPr lvl="0" algn="l">
              <a:lnSpc>
                <a:spcPct val="82170"/>
              </a:lnSpc>
            </a:pPr>
            <a:r>
              <a:rPr lang="en-US" sz="1800" b="0" i="0" u="none" strike="noStrike">
                <a:solidFill>
                  <a:srgbClr val="97A1BB"/>
                </a:solidFill>
                <a:latin typeface="Geologica Roman SemiBold"/>
                <a:ea typeface="Geologica Roman SemiBold"/>
                <a:cs typeface="Geologica Roman SemiBold"/>
              </a:rPr>
              <a:t>COMPANY LOGO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114000" y="533400"/>
            <a:ext cx="622300" cy="317500"/>
          </a:xfrm>
          <a:prstGeom prst="rect">
            <a:avLst/>
          </a:prstGeom>
        </p:spPr>
        <p:txBody>
          <a:bodyPr lIns="0" tIns="46863" rIns="0" bIns="0" rtlCol="0" anchor="t"/>
          <a:lstStyle/>
          <a:p>
            <a:pPr lvl="0" algn="r">
              <a:lnSpc>
                <a:spcPct val="82170"/>
              </a:lnSpc>
            </a:pPr>
            <a:r>
              <a:rPr lang="en-US" sz="1800" b="0" i="0" u="none" strike="noStrike">
                <a:solidFill>
                  <a:srgbClr val="97A1BB"/>
                </a:solidFill>
                <a:latin typeface="Geologica Roman Regular"/>
                <a:ea typeface="Geologica Roman Regular"/>
                <a:cs typeface="Geologica Roman Regular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30400" y="1549400"/>
            <a:ext cx="9258300" cy="876300"/>
          </a:xfrm>
          <a:prstGeom prst="rect">
            <a:avLst/>
          </a:prstGeom>
        </p:spPr>
        <p:txBody>
          <a:bodyPr lIns="0" tIns="128438" rIns="0" bIns="128438" rtlCol="0" anchor="ctr"/>
          <a:lstStyle/>
          <a:p>
            <a:pPr lvl="0" algn="l">
              <a:lnSpc>
                <a:spcPct val="82170"/>
              </a:lnSpc>
            </a:pPr>
            <a:r>
              <a:rPr lang="en-US" sz="4933" b="0" i="0" u="none" strike="noStrike" spc="-400">
                <a:solidFill>
                  <a:srgbClr val="1A50B6"/>
                </a:solidFill>
                <a:latin typeface="S-Core Dream 6 Bold"/>
                <a:ea typeface="S-Core Dream 6 Bold"/>
                <a:cs typeface="S-Core Dream 6 Bold"/>
              </a:rPr>
              <a:t>경쟁 분석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30400" y="2489200"/>
            <a:ext cx="11518900" cy="381000"/>
          </a:xfrm>
          <a:prstGeom prst="rect">
            <a:avLst/>
          </a:prstGeom>
        </p:spPr>
        <p:txBody>
          <a:bodyPr lIns="0" tIns="55540" rIns="0" bIns="55540" rtlCol="0" anchor="ctr"/>
          <a:lstStyle/>
          <a:p>
            <a:pPr lvl="0" algn="l">
              <a:lnSpc>
                <a:spcPct val="82170"/>
              </a:lnSpc>
            </a:pPr>
            <a:r>
              <a:rPr lang="en-US" sz="2133" b="0" i="0" u="none" strike="noStrike" spc="-200">
                <a:solidFill>
                  <a:srgbClr val="3D4C63">
                    <a:alpha val="70196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거대한 시장에 비해 제대로된 검수 서비스의 부재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063875"/>
            <a:ext cx="11696700" cy="5892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3462000" y="5867400"/>
            <a:ext cx="7175500" cy="1193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990"/>
              </a:lnSpc>
            </a:pPr>
            <a:r>
              <a:rPr lang="en-US" sz="3200" b="0" i="0" u="none" strike="noStrike" spc="-300" dirty="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이 중, </a:t>
            </a:r>
            <a:r>
              <a:rPr lang="en-US" sz="3200" b="0" i="0" u="none" strike="noStrike" spc="-300" dirty="0" err="1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셀프</a:t>
            </a:r>
            <a:r>
              <a:rPr lang="en-US" sz="3200" b="0" i="0" u="none" strike="noStrike" spc="-300" dirty="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 </a:t>
            </a:r>
            <a:r>
              <a:rPr lang="en-US" sz="3200" b="0" i="0" u="none" strike="noStrike" spc="-300" dirty="0" err="1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검수</a:t>
            </a:r>
            <a:r>
              <a:rPr lang="en-US" sz="3200" b="0" i="0" u="none" strike="noStrike" spc="-300" dirty="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 </a:t>
            </a:r>
            <a:r>
              <a:rPr lang="en-US" sz="3200" b="0" i="0" u="none" strike="noStrike" spc="-300" dirty="0" err="1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서비스를</a:t>
            </a:r>
            <a:r>
              <a:rPr lang="en-US" sz="3200" b="0" i="0" u="none" strike="noStrike" spc="-300" dirty="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 </a:t>
            </a:r>
            <a:r>
              <a:rPr lang="en-US" sz="3200" b="0" i="0" u="none" strike="noStrike" spc="-300" dirty="0" err="1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제공하는</a:t>
            </a:r>
            <a:r>
              <a:rPr lang="en-US" sz="3200" b="0" i="0" u="none" strike="noStrike" spc="-300" dirty="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 </a:t>
            </a:r>
            <a:r>
              <a:rPr lang="en-US" sz="3200" b="0" i="0" u="none" strike="noStrike" spc="-300" dirty="0" err="1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플래폼은</a:t>
            </a:r>
            <a:r>
              <a:rPr lang="en-US" sz="3200" b="0" i="0" u="none" strike="noStrike" spc="-300" dirty="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 </a:t>
            </a:r>
            <a:r>
              <a:rPr lang="en-US" sz="3200" b="0" i="0" u="none" strike="noStrike" spc="-300" dirty="0" err="1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중고나라가</a:t>
            </a:r>
            <a:r>
              <a:rPr lang="en-US" sz="3200" b="0" i="0" u="none" strike="noStrike" spc="-300" dirty="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 </a:t>
            </a:r>
            <a:r>
              <a:rPr lang="en-US" sz="3200" b="0" i="0" u="none" strike="noStrike" spc="-300" dirty="0" err="1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유일함</a:t>
            </a:r>
            <a:endParaRPr lang="en-US" sz="3200" b="0" i="0" u="none" strike="noStrike" spc="-300" dirty="0">
              <a:solidFill>
                <a:srgbClr val="3D4C63">
                  <a:alpha val="85098"/>
                </a:srgbClr>
              </a:solidFill>
              <a:latin typeface="S-Core Dream 4 Regular"/>
              <a:ea typeface="S-Core Dream 4 Regular"/>
              <a:cs typeface="S-Core Dream 4 Regula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492895-29A4-237C-68E7-72BF08202A86}"/>
              </a:ext>
            </a:extLst>
          </p:cNvPr>
          <p:cNvSpPr txBox="1"/>
          <p:nvPr/>
        </p:nvSpPr>
        <p:spPr>
          <a:xfrm>
            <a:off x="7010400" y="10948639"/>
            <a:ext cx="10718800" cy="1193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990"/>
              </a:lnSpc>
            </a:pPr>
            <a:r>
              <a:rPr lang="ko-KR" altLang="en-US" sz="4000" spc="-300" dirty="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이를 통해 나머지 </a:t>
            </a:r>
            <a:r>
              <a:rPr lang="en-US" altLang="ko-KR" sz="4000" spc="-300" dirty="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3</a:t>
            </a:r>
            <a:r>
              <a:rPr lang="ko-KR" altLang="en-US" sz="4000" spc="-300" dirty="0">
                <a:solidFill>
                  <a:srgbClr val="3D4C63">
                    <a:alpha val="85098"/>
                  </a:srgbClr>
                </a:solidFill>
                <a:latin typeface="S-Core Dream 4 Regular"/>
                <a:ea typeface="S-Core Dream 4 Regular"/>
                <a:cs typeface="S-Core Dream 4 Regular"/>
              </a:rPr>
              <a:t>사와 협력 가능성을 확인 가능함</a:t>
            </a:r>
            <a:endParaRPr lang="en-US" sz="4000" b="0" i="0" u="none" strike="noStrike" spc="-300" dirty="0">
              <a:solidFill>
                <a:srgbClr val="3D4C63">
                  <a:alpha val="85098"/>
                </a:srgbClr>
              </a:solidFill>
              <a:latin typeface="S-Core Dream 4 Regular"/>
              <a:ea typeface="S-Core Dream 4 Regular"/>
              <a:cs typeface="S-Core Dream 4 Regular"/>
            </a:endParaRPr>
          </a:p>
        </p:txBody>
      </p:sp>
      <p:pic>
        <p:nvPicPr>
          <p:cNvPr id="11" name="Picture 15">
            <a:extLst>
              <a:ext uri="{FF2B5EF4-FFF2-40B4-BE49-F238E27FC236}">
                <a16:creationId xmlns:a16="http://schemas.microsoft.com/office/drawing/2014/main" id="{771B28C8-EC49-249D-5DF6-6C4A27B92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2014200" y="9283700"/>
            <a:ext cx="381000" cy="673100"/>
          </a:xfrm>
          <a:prstGeom prst="rect">
            <a:avLst/>
          </a:prstGeom>
        </p:spPr>
      </p:pic>
      <p:pic>
        <p:nvPicPr>
          <p:cNvPr id="12" name="Picture 16">
            <a:extLst>
              <a:ext uri="{FF2B5EF4-FFF2-40B4-BE49-F238E27FC236}">
                <a16:creationId xmlns:a16="http://schemas.microsoft.com/office/drawing/2014/main" id="{ED5B8B7E-A3D2-BC50-127B-0DDF00DF2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2014200" y="9004300"/>
            <a:ext cx="3810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2100" y="6705600"/>
            <a:ext cx="19342100" cy="932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52407" b="0" i="0" u="none" strike="noStrike" spc="-2700">
                <a:solidFill>
                  <a:srgbClr val="97A1BB">
                    <a:alpha val="23137"/>
                  </a:srgbClr>
                </a:solidFill>
                <a:latin typeface="Geologica Roman Medium"/>
                <a:ea typeface="Geologica Roman Medium"/>
                <a:cs typeface="Geologica Roman Medium"/>
              </a:rPr>
              <a:t>Q</a:t>
            </a:r>
            <a:r>
              <a:rPr lang="en-US" sz="45366" b="0" i="0" u="none" strike="noStrike" spc="900">
                <a:solidFill>
                  <a:srgbClr val="97A1BB">
                    <a:alpha val="23137"/>
                  </a:srgbClr>
                </a:solidFill>
                <a:latin typeface="S-Core Dream 5 Medium"/>
                <a:ea typeface="S-Core Dream 5 Medium"/>
                <a:cs typeface="S-Core Dream 5 Medium"/>
              </a:rPr>
              <a:t>&amp;</a:t>
            </a:r>
            <a:r>
              <a:rPr lang="en-US" sz="52407" b="0" i="0" u="none" strike="noStrike" spc="1000">
                <a:solidFill>
                  <a:srgbClr val="97A1BB">
                    <a:alpha val="23137"/>
                  </a:srgbClr>
                </a:solidFill>
                <a:latin typeface="Geologica Roman Medium"/>
                <a:ea typeface="Geologica Roman Medium"/>
                <a:cs typeface="Geologica Roman Medium"/>
              </a:rPr>
              <a:t>A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1300" y="2489200"/>
            <a:ext cx="15989300" cy="141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61000"/>
          </a:blip>
          <a:stretch>
            <a:fillRect/>
          </a:stretch>
        </p:blipFill>
        <p:spPr>
          <a:xfrm>
            <a:off x="17513300" y="5588000"/>
            <a:ext cx="7810500" cy="7810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8100"/>
            <a:ext cx="24384000" cy="1905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006600" y="1981200"/>
            <a:ext cx="13347700" cy="1219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6866" b="0" i="0" u="none" strike="noStrike" spc="-600">
                <a:solidFill>
                  <a:srgbClr val="0028A1"/>
                </a:solidFill>
                <a:latin typeface="S-Core Dream 5 Medium"/>
                <a:ea typeface="S-Core Dream 5 Medium"/>
                <a:cs typeface="S-Core Dream 5 Medium"/>
              </a:rPr>
              <a:t>발표 경청해 주셔서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329</Words>
  <Application>Microsoft Office PowerPoint</Application>
  <PresentationFormat>사용자 지정</PresentationFormat>
  <Paragraphs>84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Geologica Roman Regular</vt:lpstr>
      <vt:lpstr>Calibri</vt:lpstr>
      <vt:lpstr>Arial</vt:lpstr>
      <vt:lpstr>S-Core Dream 4 Regular</vt:lpstr>
      <vt:lpstr>Geologica Roman SemiBold</vt:lpstr>
      <vt:lpstr>Geologica Roman Medium</vt:lpstr>
      <vt:lpstr>HY견고딕</vt:lpstr>
      <vt:lpstr>S-Core Dream 3 Light</vt:lpstr>
      <vt:lpstr>S-Core Dream 5 Medium</vt:lpstr>
      <vt:lpstr>S-Core Dream 6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카인</dc:creator>
  <cp:lastModifiedBy>인 카</cp:lastModifiedBy>
  <cp:revision>3</cp:revision>
  <dcterms:created xsi:type="dcterms:W3CDTF">2006-08-16T00:00:00Z</dcterms:created>
  <dcterms:modified xsi:type="dcterms:W3CDTF">2026-03-13T06:35:25Z</dcterms:modified>
</cp:coreProperties>
</file>